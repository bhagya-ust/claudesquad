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B7280"/>
                </a:solidFill>
              </a:defRPr>
            </a:pPr>
            <a:r>
              <a:t>Understanding the Return Management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9376D"/>
                </a:solidFill>
              </a:defRPr>
            </a:pPr>
            <a: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</a:defRPr>
            </a:pPr>
            <a:r>
              <a:t>$500B+</a:t>
            </a:r>
          </a:p>
          <a:p>
            <a:pPr lvl="1"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Global return fraud annually</a:t>
            </a:r>
          </a:p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</a:defRPr>
            </a:pPr>
            <a:r>
              <a:t>1M+</a:t>
            </a:r>
          </a:p>
          <a:p>
            <a:pPr lvl="1"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Returns processed per retailer</a:t>
            </a:r>
          </a:p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</a:defRPr>
            </a:pPr>
            <a:r>
              <a:t>35%</a:t>
            </a:r>
          </a:p>
          <a:p>
            <a:pPr lvl="1"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Preventable sizing issues</a:t>
            </a:r>
          </a:p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</a:defRPr>
            </a:pPr>
            <a:r>
              <a:t>87%</a:t>
            </a:r>
          </a:p>
          <a:p>
            <a:pPr lvl="1"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At-risk customers churn</a:t>
            </a:r>
          </a:p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</a:defRPr>
            </a:pPr>
            <a:r>
              <a:t>$50+</a:t>
            </a:r>
          </a:p>
          <a:p>
            <a:pPr lvl="1"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Cost per manual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9376D"/>
                </a:solidFill>
              </a:defRPr>
            </a:pPr>
            <a:r>
              <a:t>ReturnIQ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737360"/>
            <a:ext cx="3840480" cy="914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54A1"/>
                </a:solidFill>
              </a:defRPr>
            </a:pPr>
            <a:r>
              <a:t>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99.61% processing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788920"/>
            <a:ext cx="3840480" cy="914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880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54A1"/>
                </a:solidFill>
              </a:defRPr>
            </a:pPr>
            <a:r>
              <a:t>Prevent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$5.9M fraud prevention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840479"/>
            <a:ext cx="3840480" cy="914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931919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54A1"/>
                </a:solidFill>
              </a:defRPr>
            </a:pPr>
            <a: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519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87.3% churn prevention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892040"/>
            <a:ext cx="3840480" cy="914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983479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54A1"/>
                </a:solidFill>
              </a:defRPr>
            </a:pPr>
            <a:r>
              <a:t>Optimize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303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4.2x ROI multiplier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B7280"/>
                </a:solidFill>
              </a:defRPr>
            </a:pPr>
            <a:r>
              <a:t>Quantified Impact &amp;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6D"/>
                </a:solidFill>
              </a:defRPr>
            </a:pPr>
            <a:r>
              <a:t>Financial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$5.9M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Fraud Prevented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4.2x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ROI Multiplier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$4.2M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Cost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280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6D"/>
                </a:solidFill>
              </a:defRPr>
            </a:pPr>
            <a:r>
              <a:t>Operational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17373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87451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96.2%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Classification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1089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246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99.61%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Automation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4805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617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-34%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074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Processing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280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6D"/>
                </a:solidFill>
              </a:defRPr>
            </a:pPr>
            <a:r>
              <a:t>Customer Impact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17373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87451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87.3%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Churn Prevention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1089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246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92.3%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Satisfaction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4480560"/>
            <a:ext cx="2377440" cy="11887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4617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5074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0F172A"/>
                </a:solidFill>
              </a:defRPr>
            </a:pPr>
            <a:r>
              <a:t>NPS Score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8046720" cy="59436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172200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Total Annual Enterprise Value: $12M+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Technology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B7280"/>
                </a:solidFill>
              </a:defRPr>
            </a:pPr>
            <a:r>
              <a:t>AI-Powered Architecture with Claude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9376D"/>
                </a:solidFill>
              </a:defRPr>
            </a:pPr>
            <a:r>
              <a:t>9 Specialized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1. Classification → 10-category analysis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2. Fraud Detection → Pattern recognition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3. Root Cause → Issue origin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4. Emotional Intelligence → Sentiment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5. Trend Detection → Patterns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6. Anomaly Detection → Outliers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7. Recommendation → ROI actions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8. Validation → Quality gates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9. Customer Care → RAG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9376D"/>
                </a:solidFill>
              </a:defRPr>
            </a:pPr>
            <a:r>
              <a:t>Hybrid RAG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91640"/>
            <a:ext cx="3840480" cy="12801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54A1"/>
                </a:solidFill>
              </a:defRPr>
            </a:pPr>
            <a:r>
              <a:t>Semantic Search (40%)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Vector embeddings for similarity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063240"/>
            <a:ext cx="3840480" cy="12801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154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54A1"/>
                </a:solidFill>
              </a:defRPr>
            </a:pPr>
            <a:r>
              <a:t>Keyword Search (40%)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BM25 algorithm with IDF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434840"/>
            <a:ext cx="3840480" cy="12801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5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526279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54A1"/>
                </a:solidFill>
              </a:defRPr>
            </a:pPr>
            <a:r>
              <a:t>Knowledge Graph (20%)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892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Relationship-based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126480"/>
            <a:ext cx="8046720" cy="594360"/>
          </a:xfrm>
          <a:prstGeom prst="roundRect">
            <a:avLst/>
          </a:prstGeom>
          <a:solidFill>
            <a:srgbClr val="295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Multi-tenant SaaS | Production-grade | Enterprise-scalable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